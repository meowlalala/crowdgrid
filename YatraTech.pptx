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Bold" charset="1" panose="00000800000000000000"/>
      <p:regular r:id="rId15"/>
    </p:embeddedFont>
    <p:embeddedFont>
      <p:font typeface="TAN Pearl" charset="1" panose="00000000000000000000"/>
      <p:regular r:id="rId16"/>
    </p:embeddedFont>
    <p:embeddedFont>
      <p:font typeface="Montserrat" charset="1" panose="00000500000000000000"/>
      <p:regular r:id="rId17"/>
    </p:embeddedFont>
    <p:embeddedFont>
      <p:font typeface="Daydream" charset="1" panose="00000000000000000000"/>
      <p:regular r:id="rId18"/>
    </p:embeddedFont>
    <p:embeddedFont>
      <p:font typeface="Cinzel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VAHQ1qgK750.mp4" Type="http://schemas.openxmlformats.org/officeDocument/2006/relationships/video"/><Relationship Id="rId6" Target="../media/VAHQ1qgK750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Relationship Id="rId4" Target="../media/VAHQ12wNkrA.mp4" Type="http://schemas.openxmlformats.org/officeDocument/2006/relationships/video"/><Relationship Id="rId5" Target="../media/VAHQ12wNkrA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43234" y="1158969"/>
            <a:ext cx="21474138" cy="10737069"/>
          </a:xfrm>
          <a:custGeom>
            <a:avLst/>
            <a:gdLst/>
            <a:ahLst/>
            <a:cxnLst/>
            <a:rect r="r" b="b" t="t" l="l"/>
            <a:pathLst>
              <a:path h="10737069" w="21474138">
                <a:moveTo>
                  <a:pt x="0" y="0"/>
                </a:moveTo>
                <a:lnTo>
                  <a:pt x="21474138" y="0"/>
                </a:lnTo>
                <a:lnTo>
                  <a:pt x="21474138" y="10737069"/>
                </a:lnTo>
                <a:lnTo>
                  <a:pt x="0" y="10737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46919" y="7821863"/>
            <a:ext cx="1312381" cy="1284399"/>
            <a:chOff x="0" y="0"/>
            <a:chExt cx="345648" cy="33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5648" cy="338278"/>
            </a:xfrm>
            <a:custGeom>
              <a:avLst/>
              <a:gdLst/>
              <a:ahLst/>
              <a:cxnLst/>
              <a:rect r="r" b="b" t="t" l="l"/>
              <a:pathLst>
                <a:path h="338278" w="345648">
                  <a:moveTo>
                    <a:pt x="0" y="0"/>
                  </a:moveTo>
                  <a:lnTo>
                    <a:pt x="345648" y="0"/>
                  </a:lnTo>
                  <a:lnTo>
                    <a:pt x="345648" y="338278"/>
                  </a:lnTo>
                  <a:lnTo>
                    <a:pt x="0" y="338278"/>
                  </a:lnTo>
                  <a:close/>
                </a:path>
              </a:pathLst>
            </a:custGeom>
            <a:solidFill>
              <a:srgbClr val="15010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45648" cy="32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8920639"/>
            <a:ext cx="452564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SHUBHAM - RUCHA 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AAYUSH - SHANTARAM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52502" y="2138924"/>
            <a:ext cx="1444764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PROBLEM STATEMENT: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974437" y="7840577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7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7" y="2835446"/>
                </a:lnTo>
                <a:lnTo>
                  <a:pt x="1757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52502" y="3768609"/>
            <a:ext cx="14921935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Organizers </a:t>
            </a:r>
            <a:r>
              <a:rPr lang="en-US" sz="35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of diverse gatherings—from spiritual events and rallies to corporate summits—struggle with fragmented, single-purpose tools for crowd control, scheduling, and communication.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This lack of an all-in-one platform creates logistical chaos for hosts and a confusing, disconnected experience for attendees.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73017" y="4098384"/>
            <a:ext cx="10586283" cy="2377516"/>
            <a:chOff x="0" y="0"/>
            <a:chExt cx="12172975" cy="273386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2172975" cy="2733784"/>
            </a:xfrm>
            <a:custGeom>
              <a:avLst/>
              <a:gdLst/>
              <a:ahLst/>
              <a:cxnLst/>
              <a:rect r="r" b="b" t="t" l="l"/>
              <a:pathLst>
                <a:path h="2733784" w="12172975">
                  <a:moveTo>
                    <a:pt x="67190" y="0"/>
                  </a:moveTo>
                  <a:lnTo>
                    <a:pt x="12105785" y="0"/>
                  </a:lnTo>
                  <a:cubicBezTo>
                    <a:pt x="12123605" y="0"/>
                    <a:pt x="12140695" y="7079"/>
                    <a:pt x="12153295" y="19679"/>
                  </a:cubicBezTo>
                  <a:cubicBezTo>
                    <a:pt x="12165896" y="32280"/>
                    <a:pt x="12172975" y="49370"/>
                    <a:pt x="12172975" y="67190"/>
                  </a:cubicBezTo>
                  <a:lnTo>
                    <a:pt x="12172975" y="2666595"/>
                  </a:lnTo>
                  <a:cubicBezTo>
                    <a:pt x="12172975" y="2684414"/>
                    <a:pt x="12165896" y="2701504"/>
                    <a:pt x="12153295" y="2714105"/>
                  </a:cubicBezTo>
                  <a:cubicBezTo>
                    <a:pt x="12140695" y="2726705"/>
                    <a:pt x="12123605" y="2733784"/>
                    <a:pt x="12105785" y="2733784"/>
                  </a:cubicBezTo>
                  <a:lnTo>
                    <a:pt x="67190" y="2733784"/>
                  </a:lnTo>
                  <a:cubicBezTo>
                    <a:pt x="30082" y="2733784"/>
                    <a:pt x="0" y="2703702"/>
                    <a:pt x="0" y="2666595"/>
                  </a:cubicBezTo>
                  <a:lnTo>
                    <a:pt x="0" y="67190"/>
                  </a:lnTo>
                  <a:cubicBezTo>
                    <a:pt x="0" y="49370"/>
                    <a:pt x="7079" y="32280"/>
                    <a:pt x="19679" y="19679"/>
                  </a:cubicBezTo>
                  <a:cubicBezTo>
                    <a:pt x="32280" y="7079"/>
                    <a:pt x="49370" y="0"/>
                    <a:pt x="67190" y="0"/>
                  </a:cubicBezTo>
                  <a:close/>
                </a:path>
              </a:pathLst>
            </a:custGeom>
            <a:solidFill>
              <a:srgbClr val="FFD6D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73017" y="6744362"/>
            <a:ext cx="10586283" cy="2145533"/>
            <a:chOff x="0" y="0"/>
            <a:chExt cx="12098447" cy="245200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2098448" cy="2451934"/>
            </a:xfrm>
            <a:custGeom>
              <a:avLst/>
              <a:gdLst/>
              <a:ahLst/>
              <a:cxnLst/>
              <a:rect r="r" b="b" t="t" l="l"/>
              <a:pathLst>
                <a:path h="2451934" w="12098448">
                  <a:moveTo>
                    <a:pt x="67190" y="0"/>
                  </a:moveTo>
                  <a:lnTo>
                    <a:pt x="12031258" y="0"/>
                  </a:lnTo>
                  <a:cubicBezTo>
                    <a:pt x="12068366" y="0"/>
                    <a:pt x="12098448" y="30082"/>
                    <a:pt x="12098448" y="67190"/>
                  </a:cubicBezTo>
                  <a:lnTo>
                    <a:pt x="12098448" y="2384744"/>
                  </a:lnTo>
                  <a:cubicBezTo>
                    <a:pt x="12098448" y="2402564"/>
                    <a:pt x="12091369" y="2419654"/>
                    <a:pt x="12078768" y="2432255"/>
                  </a:cubicBezTo>
                  <a:cubicBezTo>
                    <a:pt x="12066167" y="2444855"/>
                    <a:pt x="12049078" y="2451934"/>
                    <a:pt x="12031258" y="2451934"/>
                  </a:cubicBezTo>
                  <a:lnTo>
                    <a:pt x="67190" y="2451934"/>
                  </a:lnTo>
                  <a:cubicBezTo>
                    <a:pt x="30082" y="2451934"/>
                    <a:pt x="0" y="2421852"/>
                    <a:pt x="0" y="2384744"/>
                  </a:cubicBezTo>
                  <a:lnTo>
                    <a:pt x="0" y="67190"/>
                  </a:lnTo>
                  <a:cubicBezTo>
                    <a:pt x="0" y="49370"/>
                    <a:pt x="7079" y="32280"/>
                    <a:pt x="19679" y="19679"/>
                  </a:cubicBezTo>
                  <a:cubicBezTo>
                    <a:pt x="32280" y="7079"/>
                    <a:pt x="49370" y="0"/>
                    <a:pt x="671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44" r="0" b="-1546"/>
              </a:stretch>
            </a:blip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243" r="0" b="243"/>
          <a:stretch>
            <a:fillRect/>
          </a:stretch>
        </p:blipFill>
        <p:spPr>
          <a:xfrm flipH="false" flipV="false" rot="0">
            <a:off x="0" y="0"/>
            <a:ext cx="5814776" cy="10287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877124" y="930186"/>
            <a:ext cx="7062520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73017" y="2345529"/>
            <a:ext cx="11011130" cy="125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Large-scale gatherings such as Simhastha Kumbh Mela, Pandharpur Wari, religious camps, corporate summits, and public concerts attract thousands or even lakhs of attendees.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35852" y="4237028"/>
            <a:ext cx="628124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99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Traditional Operational Bottlenecks: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5852" y="4672005"/>
            <a:ext cx="10124840" cy="134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Organizers rely heavily on phone calls, paper logs, spreadsheets, and messaging apps—leading to severe delays, coordination gaps, and resource mismanagement.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35852" y="6858662"/>
            <a:ext cx="340082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Smart Solution: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5852" y="7334912"/>
            <a:ext cx="10124840" cy="134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399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 centralized mobile application uniting accommodation, food distribution, volunteer duty logs, emergency alerts, and organizer workflows under one roof.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1989" y="561238"/>
            <a:ext cx="7447946" cy="131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PROBLEMS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2509237"/>
            <a:ext cx="1657350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Managing mega events without an integrated digital ecosystem causes widespread operational inefficiencies: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78719" y="4364676"/>
            <a:ext cx="357188" cy="285750"/>
            <a:chOff x="0" y="0"/>
            <a:chExt cx="476250" cy="381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" r="0" b="-250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9769" y="4364676"/>
            <a:ext cx="357188" cy="285750"/>
            <a:chOff x="0" y="0"/>
            <a:chExt cx="476250" cy="381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00" r="0" b="-250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8719" y="6039000"/>
            <a:ext cx="285750" cy="285750"/>
            <a:chOff x="0" y="0"/>
            <a:chExt cx="381000" cy="381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79769" y="6039000"/>
            <a:ext cx="357188" cy="285750"/>
            <a:chOff x="0" y="0"/>
            <a:chExt cx="476250" cy="381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00" r="0" b="-250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8719" y="7713314"/>
            <a:ext cx="357188" cy="285750"/>
            <a:chOff x="0" y="0"/>
            <a:chExt cx="476250" cy="381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79769" y="7713314"/>
            <a:ext cx="285750" cy="285750"/>
            <a:chOff x="0" y="0"/>
            <a:chExt cx="381000" cy="381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00" r="0" b="-250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35931" y="4345626"/>
            <a:ext cx="339705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Registrations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5931" y="4640901"/>
            <a:ext cx="69723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Paper-based records create long queues and data errors for pilgrims and attendees.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36981" y="4345626"/>
            <a:ext cx="423247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Inflexible Accommodation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36981" y="4640901"/>
            <a:ext cx="69723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Chaos and unfair distribution due to real-time room availability tracking absence.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4494" y="6019950"/>
            <a:ext cx="503227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Unmonitored Food Distribution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4494" y="6315225"/>
            <a:ext cx="704373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Food wastage or shortages in Bhandaras without automated schedule broadcasts.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36981" y="6019950"/>
            <a:ext cx="4603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Poor Volunteer Coordination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36981" y="6315225"/>
            <a:ext cx="694372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Lack of dynamic duty allocation causing overlaps and unmonitored zones.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35931" y="7694264"/>
            <a:ext cx="50234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Delayed Emergency Responses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35931" y="7989539"/>
            <a:ext cx="671512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Critical medical response delays due to missing geo-tagged SOS alerts.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65544" y="7694264"/>
            <a:ext cx="451623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Communication Breakdown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65544" y="7989539"/>
            <a:ext cx="655796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Inability to issue instant official warnings and crowd control advisories.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16623506" y="2620795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6" y="2835446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1685" y="866034"/>
            <a:ext cx="9827531" cy="220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0"/>
              </a:lnSpc>
            </a:pPr>
            <a:r>
              <a:rPr lang="en-US" sz="6800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364" y="4020079"/>
            <a:ext cx="5295748" cy="4400550"/>
            <a:chOff x="0" y="0"/>
            <a:chExt cx="7060997" cy="58674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7060946" cy="5867400"/>
            </a:xfrm>
            <a:custGeom>
              <a:avLst/>
              <a:gdLst/>
              <a:ahLst/>
              <a:cxnLst/>
              <a:rect r="r" b="b" t="t" l="l"/>
              <a:pathLst>
                <a:path h="58674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5867400"/>
                  </a:lnTo>
                  <a:lnTo>
                    <a:pt x="0" y="586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6" t="0" r="-4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96012" y="4020079"/>
            <a:ext cx="5295976" cy="4400550"/>
            <a:chOff x="0" y="0"/>
            <a:chExt cx="7061302" cy="58674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7061327" cy="5867400"/>
            </a:xfrm>
            <a:custGeom>
              <a:avLst/>
              <a:gdLst/>
              <a:ahLst/>
              <a:cxnLst/>
              <a:rect r="r" b="b" t="t" l="l"/>
              <a:pathLst>
                <a:path h="586740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5867400"/>
                  </a:lnTo>
                  <a:lnTo>
                    <a:pt x="0" y="586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" t="0" r="-17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34888" y="4020079"/>
            <a:ext cx="5295748" cy="4400550"/>
            <a:chOff x="0" y="0"/>
            <a:chExt cx="7060997" cy="58674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7060946" cy="5867400"/>
            </a:xfrm>
            <a:custGeom>
              <a:avLst/>
              <a:gdLst/>
              <a:ahLst/>
              <a:cxnLst/>
              <a:rect r="r" b="b" t="t" l="l"/>
              <a:pathLst>
                <a:path h="58674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5867400"/>
                  </a:lnTo>
                  <a:lnTo>
                    <a:pt x="0" y="586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14552" y="4420129"/>
            <a:ext cx="742950" cy="742950"/>
            <a:chOff x="0" y="0"/>
            <a:chExt cx="990600" cy="9906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14552" y="5401204"/>
            <a:ext cx="481044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Religious Events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4552" y="5906029"/>
            <a:ext cx="4581373" cy="86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399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Tailored for massive spiritual gatherings with high footfall: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3199" y="4420129"/>
            <a:ext cx="742950" cy="742950"/>
            <a:chOff x="0" y="0"/>
            <a:chExt cx="990600" cy="9906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53199" y="5401204"/>
            <a:ext cx="481067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Corporate Events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3199" y="5906029"/>
            <a:ext cx="4581601" cy="86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399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Structured delegate and resource management: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92076" y="4420129"/>
            <a:ext cx="742950" cy="742950"/>
            <a:chOff x="0" y="0"/>
            <a:chExt cx="990600" cy="9906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61" t="0" r="-96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492076" y="5401204"/>
            <a:ext cx="481044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Public Gatherings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92076" y="5906029"/>
            <a:ext cx="4581373" cy="86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399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High-capacity public crowd management: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28864" y="4634442"/>
            <a:ext cx="314325" cy="314325"/>
            <a:chOff x="0" y="0"/>
            <a:chExt cx="419100" cy="4191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43139" y="678709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57452" y="6720417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Simhastha Kumbh Mela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3139" y="7215717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7452" y="7149042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Pandharpur Wari Palkhi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3139" y="764434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7452" y="7577667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Temple Festivals &amp; Camps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067512" y="4634442"/>
            <a:ext cx="314325" cy="314325"/>
            <a:chOff x="0" y="0"/>
            <a:chExt cx="419100" cy="4191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981787" y="678709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96099" y="6720417"/>
            <a:ext cx="423870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National Conferences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81787" y="7215717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96099" y="7149042"/>
            <a:ext cx="423870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Seminars &amp; Workshops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81787" y="764434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96099" y="7577667"/>
            <a:ext cx="423870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Employee Expos &amp; Meets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663526" y="4634442"/>
            <a:ext cx="400050" cy="314325"/>
            <a:chOff x="0" y="0"/>
            <a:chExt cx="533400" cy="4191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533400" cy="419100"/>
            </a:xfrm>
            <a:custGeom>
              <a:avLst/>
              <a:gdLst/>
              <a:ahLst/>
              <a:cxnLst/>
              <a:rect r="r" b="b" t="t" l="l"/>
              <a:pathLst>
                <a:path h="4191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85" t="0" r="-1785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620663" y="7721019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63551" y="7688633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Music Concerts &amp; Festivals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20663" y="687836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34976" y="6827573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Trade Exhibitions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20663" y="7291917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34976" y="7256198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Sports Events &amp; Arenas</a:t>
            </a:r>
          </a:p>
        </p:txBody>
      </p:sp>
      <p:sp>
        <p:nvSpPr>
          <p:cNvPr name="Freeform 45" id="45"/>
          <p:cNvSpPr/>
          <p:nvPr/>
        </p:nvSpPr>
        <p:spPr>
          <a:xfrm flipH="true" flipV="false" rot="0">
            <a:off x="17073448" y="1184634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5"/>
                </a:lnTo>
                <a:lnTo>
                  <a:pt x="1757976" y="2835445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329112" y="1028700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0" y="0"/>
                </a:moveTo>
                <a:lnTo>
                  <a:pt x="1757976" y="0"/>
                </a:lnTo>
                <a:lnTo>
                  <a:pt x="1757976" y="2835446"/>
                </a:lnTo>
                <a:lnTo>
                  <a:pt x="0" y="28354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9276" y="2531872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0" y="0"/>
                </a:moveTo>
                <a:lnTo>
                  <a:pt x="1757976" y="0"/>
                </a:lnTo>
                <a:lnTo>
                  <a:pt x="1757976" y="2835446"/>
                </a:lnTo>
                <a:lnTo>
                  <a:pt x="0" y="283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68946" y="8229073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5"/>
                </a:lnTo>
                <a:lnTo>
                  <a:pt x="1757976" y="2835445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8687" y="2538482"/>
            <a:ext cx="215314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0538" y="3062357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Registration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0538" y="3500507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Secure onboarding with mobile OTP and email verification for pilgrims and visitors.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56355" y="2538482"/>
            <a:ext cx="230316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48207" y="3062357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Accommodation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48207" y="3500507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6-hour and 12-hour stay booking with live room allocation and capacity tracking.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4024" y="2538482"/>
            <a:ext cx="231040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55876" y="3062357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Food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55876" y="3500507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Real-time Bhandara schedules, food tent locations, and meal distribution logs.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71693" y="2538482"/>
            <a:ext cx="227687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3544" y="3062357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Volunteer Desk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63544" y="3500507"/>
            <a:ext cx="3350419" cy="207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Volunteer registration, duty shift assignments, and location shift management.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0538" y="6032668"/>
            <a:ext cx="231467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0538" y="6556543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Medical &amp; 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0538" y="6994693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One-tap panic alert dispatching real-time location to nearest medical teams.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48207" y="6032668"/>
            <a:ext cx="231467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48207" y="6556543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Push Alerts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8207" y="6994693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Instant official broadcasts, crowd control alerts, and schedule changes.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55876" y="6032668"/>
            <a:ext cx="535295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07 — CORE ENGINE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55876" y="6556543"/>
            <a:ext cx="793599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Organizer Central Control Dashboard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55876" y="6994693"/>
            <a:ext cx="7558088" cy="123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Real-time telemetry and reporting on registrations, stay occupancy, food stocks, active emergency tickets, and volunteer density maps.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0538" y="637925"/>
            <a:ext cx="12194381" cy="131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SYSTEM MODULES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8371" y="4743764"/>
            <a:ext cx="7353968" cy="4514536"/>
            <a:chOff x="0" y="0"/>
            <a:chExt cx="8456194" cy="519118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8456194" cy="5191034"/>
            </a:xfrm>
            <a:custGeom>
              <a:avLst/>
              <a:gdLst/>
              <a:ahLst/>
              <a:cxnLst/>
              <a:rect r="r" b="b" t="t" l="l"/>
              <a:pathLst>
                <a:path h="5191034" w="8456194">
                  <a:moveTo>
                    <a:pt x="96722" y="0"/>
                  </a:moveTo>
                  <a:lnTo>
                    <a:pt x="8359472" y="0"/>
                  </a:lnTo>
                  <a:cubicBezTo>
                    <a:pt x="8412890" y="0"/>
                    <a:pt x="8456194" y="43304"/>
                    <a:pt x="8456194" y="96722"/>
                  </a:cubicBezTo>
                  <a:lnTo>
                    <a:pt x="8456194" y="5094313"/>
                  </a:lnTo>
                  <a:cubicBezTo>
                    <a:pt x="8456194" y="5147730"/>
                    <a:pt x="8412890" y="5191034"/>
                    <a:pt x="8359472" y="5191034"/>
                  </a:cubicBezTo>
                  <a:lnTo>
                    <a:pt x="96722" y="5191034"/>
                  </a:lnTo>
                  <a:cubicBezTo>
                    <a:pt x="43304" y="5191034"/>
                    <a:pt x="0" y="5147730"/>
                    <a:pt x="0" y="5094313"/>
                  </a:cubicBezTo>
                  <a:lnTo>
                    <a:pt x="0" y="96722"/>
                  </a:lnTo>
                  <a:cubicBezTo>
                    <a:pt x="0" y="43304"/>
                    <a:pt x="43304" y="0"/>
                    <a:pt x="96722" y="0"/>
                  </a:cubicBezTo>
                  <a:close/>
                </a:path>
              </a:pathLst>
            </a:custGeom>
            <a:solidFill>
              <a:srgbClr val="FFD6D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886232"/>
            <a:ext cx="7353968" cy="4868866"/>
            <a:chOff x="0" y="0"/>
            <a:chExt cx="8456194" cy="559862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456194" cy="5598460"/>
            </a:xfrm>
            <a:custGeom>
              <a:avLst/>
              <a:gdLst/>
              <a:ahLst/>
              <a:cxnLst/>
              <a:rect r="r" b="b" t="t" l="l"/>
              <a:pathLst>
                <a:path h="5598460" w="8456194">
                  <a:moveTo>
                    <a:pt x="96722" y="0"/>
                  </a:moveTo>
                  <a:lnTo>
                    <a:pt x="8359472" y="0"/>
                  </a:lnTo>
                  <a:cubicBezTo>
                    <a:pt x="8412890" y="0"/>
                    <a:pt x="8456194" y="43304"/>
                    <a:pt x="8456194" y="96722"/>
                  </a:cubicBezTo>
                  <a:lnTo>
                    <a:pt x="8456194" y="5501739"/>
                  </a:lnTo>
                  <a:cubicBezTo>
                    <a:pt x="8456194" y="5555156"/>
                    <a:pt x="8412890" y="5598460"/>
                    <a:pt x="8359472" y="5598460"/>
                  </a:cubicBezTo>
                  <a:lnTo>
                    <a:pt x="96722" y="5598460"/>
                  </a:lnTo>
                  <a:cubicBezTo>
                    <a:pt x="43304" y="5598460"/>
                    <a:pt x="0" y="5555156"/>
                    <a:pt x="0" y="5501739"/>
                  </a:cubicBezTo>
                  <a:lnTo>
                    <a:pt x="0" y="96722"/>
                  </a:lnTo>
                  <a:cubicBezTo>
                    <a:pt x="0" y="43304"/>
                    <a:pt x="43304" y="0"/>
                    <a:pt x="96722" y="0"/>
                  </a:cubicBezTo>
                  <a:close/>
                </a:path>
              </a:pathLst>
            </a:custGeom>
            <a:solidFill>
              <a:srgbClr val="FFD6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18931" y="581921"/>
            <a:ext cx="14842363" cy="129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5"/>
              </a:lnSpc>
            </a:pPr>
            <a:r>
              <a:rPr lang="en-US" sz="71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BENEFITS &amp;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7171" y="3202305"/>
            <a:ext cx="6436451" cy="415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aydream"/>
                <a:ea typeface="Daydream"/>
                <a:cs typeface="Daydream"/>
                <a:sym typeface="Daydream"/>
              </a:rPr>
              <a:t>Benefits for Participants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Easy </a:t>
            </a: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online registration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Hassle-free accommodation booking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Quick access to food information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Volunteer participation through the application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Faster emergency assistance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Better communication with organizers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7129" y="5107305"/>
            <a:ext cx="6436451" cy="415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aydream"/>
                <a:ea typeface="Daydream"/>
                <a:cs typeface="Daydream"/>
                <a:sym typeface="Daydream"/>
              </a:rPr>
              <a:t>Benefits f</a:t>
            </a:r>
            <a:r>
              <a:rPr lang="en-US" sz="4500">
                <a:solidFill>
                  <a:srgbClr val="000000"/>
                </a:solidFill>
                <a:latin typeface="Daydream"/>
                <a:ea typeface="Daydream"/>
                <a:cs typeface="Daydream"/>
                <a:sym typeface="Daydream"/>
              </a:rPr>
              <a:t>or Organizers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Centralized event management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Reduced paperwork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Better crowd management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Efficient volunteer coordination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monitoring of resources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Easy generation of reports and statistics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992339" y="2485219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6" y="2835446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9983639" cy="129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3"/>
              </a:lnSpc>
            </a:pPr>
            <a:r>
              <a:rPr lang="en-US" sz="72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FUTURE SCOPE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59669" y="3293269"/>
            <a:ext cx="4809973" cy="342900"/>
            <a:chOff x="0" y="0"/>
            <a:chExt cx="6413297" cy="4572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6413246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246">
                  <a:moveTo>
                    <a:pt x="0" y="0"/>
                  </a:moveTo>
                  <a:lnTo>
                    <a:pt x="6413246" y="0"/>
                  </a:lnTo>
                  <a:lnTo>
                    <a:pt x="64132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2" r="0" b="-172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8712" y="3836194"/>
            <a:ext cx="50504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AI Crowd Analytics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4900" y="4436269"/>
            <a:ext cx="4809973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Predictive crowd density models and automated resource allocation.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38899" y="3293269"/>
            <a:ext cx="4810201" cy="342900"/>
            <a:chOff x="0" y="0"/>
            <a:chExt cx="6413602" cy="4572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6413627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627">
                  <a:moveTo>
                    <a:pt x="0" y="0"/>
                  </a:moveTo>
                  <a:lnTo>
                    <a:pt x="6413627" y="0"/>
                  </a:lnTo>
                  <a:lnTo>
                    <a:pt x="64136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2" r="0" b="-157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38785" y="3836194"/>
            <a:ext cx="505070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QR &amp; RFID Entry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6879" y="4436269"/>
            <a:ext cx="4810201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gate verification and seamless participant tracking.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49086" y="3293269"/>
            <a:ext cx="4809973" cy="342900"/>
            <a:chOff x="0" y="0"/>
            <a:chExt cx="6413297" cy="4572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413246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246">
                  <a:moveTo>
                    <a:pt x="0" y="0"/>
                  </a:moveTo>
                  <a:lnTo>
                    <a:pt x="6413246" y="0"/>
                  </a:lnTo>
                  <a:lnTo>
                    <a:pt x="64132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22" r="0" b="-172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49086" y="3836194"/>
            <a:ext cx="50504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In-Venue GPS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49086" y="4436269"/>
            <a:ext cx="4809973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Live indoor navigation mapping camps, food tents, and medical hubs.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0547" y="6602254"/>
            <a:ext cx="4809973" cy="342900"/>
            <a:chOff x="0" y="0"/>
            <a:chExt cx="6413297" cy="4572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6413246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246">
                  <a:moveTo>
                    <a:pt x="0" y="0"/>
                  </a:moveTo>
                  <a:lnTo>
                    <a:pt x="6413246" y="0"/>
                  </a:lnTo>
                  <a:lnTo>
                    <a:pt x="64132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8" t="0" r="-34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59669" y="7143750"/>
            <a:ext cx="584396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Digital Payment Gateway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8712" y="7743825"/>
            <a:ext cx="4809973" cy="130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UPI &amp; card integrations for </a:t>
            </a:r>
          </a:p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paid bookings and digital donations.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738785" y="6602254"/>
            <a:ext cx="4810201" cy="342900"/>
            <a:chOff x="0" y="0"/>
            <a:chExt cx="6413602" cy="4572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413627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627">
                  <a:moveTo>
                    <a:pt x="0" y="0"/>
                  </a:moveTo>
                  <a:lnTo>
                    <a:pt x="6413627" y="0"/>
                  </a:lnTo>
                  <a:lnTo>
                    <a:pt x="64136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4" t="0" r="-493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738785" y="7143750"/>
            <a:ext cx="562458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Multi-Language &amp; Offline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38785" y="7743825"/>
            <a:ext cx="4810201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Regional language support and offline sync for low-network zones.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349086" y="6602254"/>
            <a:ext cx="4809973" cy="342900"/>
            <a:chOff x="0" y="0"/>
            <a:chExt cx="6413297" cy="4572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6413246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246">
                  <a:moveTo>
                    <a:pt x="0" y="0"/>
                  </a:moveTo>
                  <a:lnTo>
                    <a:pt x="6413246" y="0"/>
                  </a:lnTo>
                  <a:lnTo>
                    <a:pt x="64132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48" t="0" r="-348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49086" y="7145179"/>
            <a:ext cx="479568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AI Chatbot Assistant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34799" y="7743825"/>
            <a:ext cx="4809973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24/7 attendee support answering inquiries instantly.</a:t>
            </a:r>
          </a:p>
        </p:txBody>
      </p:sp>
      <p:sp>
        <p:nvSpPr>
          <p:cNvPr name="Freeform 27" id="27"/>
          <p:cNvSpPr/>
          <p:nvPr/>
        </p:nvSpPr>
        <p:spPr>
          <a:xfrm flipH="true" flipV="false" rot="0">
            <a:off x="17144771" y="1657973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7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7" y="2835446"/>
                </a:lnTo>
                <a:lnTo>
                  <a:pt x="17579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4199" y="4290377"/>
            <a:ext cx="14039603" cy="147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THANKYOU!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65817" y="6032497"/>
            <a:ext cx="446646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D6D6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Discussion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328427" y="8671087"/>
            <a:ext cx="1631146" cy="587213"/>
          </a:xfrm>
          <a:custGeom>
            <a:avLst/>
            <a:gdLst/>
            <a:ahLst/>
            <a:cxnLst/>
            <a:rect r="r" b="b" t="t" l="l"/>
            <a:pathLst>
              <a:path h="587213" w="1631146">
                <a:moveTo>
                  <a:pt x="0" y="0"/>
                </a:moveTo>
                <a:lnTo>
                  <a:pt x="1631146" y="0"/>
                </a:lnTo>
                <a:lnTo>
                  <a:pt x="1631146" y="587213"/>
                </a:lnTo>
                <a:lnTo>
                  <a:pt x="0" y="587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DAHQyKqlLUY</dc:identifier>
  <dcterms:modified xsi:type="dcterms:W3CDTF">2011-08-01T06:04:30Z</dcterms:modified>
  <cp:revision>1</cp:revision>
  <dc:title>YatraTech</dc:title>
</cp:coreProperties>
</file>